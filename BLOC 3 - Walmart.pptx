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4E3"/>
    <a:srgbClr val="FFC220"/>
    <a:srgbClr val="DA2427"/>
    <a:srgbClr val="BE1617"/>
    <a:srgbClr val="FD3476"/>
    <a:srgbClr val="FE5764"/>
    <a:srgbClr val="FF7854"/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097" autoAdjust="0"/>
  </p:normalViewPr>
  <p:slideViewPr>
    <p:cSldViewPr snapToGrid="0">
      <p:cViewPr varScale="1">
        <p:scale>
          <a:sx n="88" d="100"/>
          <a:sy n="88" d="100"/>
        </p:scale>
        <p:origin x="14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E56658F-8B6E-982E-D067-2D7C96FE39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0FC48C-869F-4102-7CDC-97CE14320C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FEBD8-66CA-46B5-9712-7C103E5D68A3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2780A9-B331-92E3-2B25-AADCE8A928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43906B-509A-1615-9FB7-D228398D44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C07F8-6D4B-47B1-A7EC-E0DBA7C696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6122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F379-739F-4DE7-A906-09CE9543F89B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BDE13-EA34-4A54-B72A-056F07E83B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0488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1BDE13-EA34-4A54-B72A-056F07E83B8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33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9BDD1-69F7-479E-A719-A8C27F54D281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94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4237-E1DE-49C8-AD65-044A1D6BDC51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5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7155-0A9E-4D68-B495-5A4E0F1C7D68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53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FBF4-C4EE-4F73-BDB6-E4BB8ED97CFB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21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59D2-7550-499A-B192-48E691393B19}" type="datetime1">
              <a:rPr lang="fr-FR" smtClean="0"/>
              <a:t>14/04/2026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14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33B82-1A15-4D13-AC0A-7B3B9980556C}" type="datetime1">
              <a:rPr lang="fr-FR" smtClean="0"/>
              <a:t>14/04/2026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87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A1A0-C7D7-4F96-8180-E41ACE12BA17}" type="datetime1">
              <a:rPr lang="fr-FR" smtClean="0"/>
              <a:t>14/04/2026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173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8F88-2004-4150-B5CA-83B6EC81D9BE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77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5A40-C485-449F-85A7-9AC621EB2D37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95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342A-D93D-455D-ACCD-68B3073DC887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80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29FE7-41C3-49FD-874B-FAAF7B24C4DB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595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88C367-5A06-46FC-831F-ED2E4E72A0E2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0191533-19A3-4010-919F-3661E378EB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467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2AEE5-670D-14A5-2EF7-AA90A5E64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4135437"/>
          </a:xfrm>
        </p:spPr>
        <p:txBody>
          <a:bodyPr anchor="ctr"/>
          <a:lstStyle/>
          <a:p>
            <a:r>
              <a:rPr lang="en-US" dirty="0" err="1">
                <a:solidFill>
                  <a:srgbClr val="FFC220"/>
                </a:solidFill>
                <a:latin typeface="Space Grotesk SemiBold" pitchFamily="50" charset="0"/>
              </a:rPr>
              <a:t>Prédiction</a:t>
            </a:r>
            <a:r>
              <a:rPr lang="en-US" dirty="0">
                <a:latin typeface="Space Grotesk SemiBold" pitchFamily="50" charset="0"/>
              </a:rPr>
              <a:t> </a:t>
            </a:r>
            <a:r>
              <a:rPr lang="en-US" dirty="0">
                <a:solidFill>
                  <a:srgbClr val="0154E3"/>
                </a:solidFill>
                <a:latin typeface="Space Grotesk SemiBold" pitchFamily="50" charset="0"/>
              </a:rPr>
              <a:t>des</a:t>
            </a:r>
            <a:r>
              <a:rPr lang="en-US" dirty="0">
                <a:latin typeface="Space Grotesk SemiBold" pitchFamily="50" charset="0"/>
              </a:rPr>
              <a:t> ventes </a:t>
            </a:r>
            <a:r>
              <a:rPr lang="en-US" dirty="0" err="1">
                <a:latin typeface="Space Grotesk SemiBold" pitchFamily="50" charset="0"/>
              </a:rPr>
              <a:t>hebdomadaires</a:t>
            </a:r>
            <a:endParaRPr lang="fr-FR" dirty="0">
              <a:latin typeface="Space Grotesk SemiBold" pitchFamily="50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C1ECE9-F298-2E46-1DD8-F94042AF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Athanor SAVOUILLAN_Jedha - BLOC 3 - WALMART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3" name="Picture 2" descr="Walmart Logo et symbole, sens, histoire, PNG, marque">
            <a:extLst>
              <a:ext uri="{FF2B5EF4-FFF2-40B4-BE49-F238E27FC236}">
                <a16:creationId xmlns:a16="http://schemas.microsoft.com/office/drawing/2014/main" id="{468DFA5E-E8E5-CA37-474E-C88136E6F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8" b="13188"/>
          <a:stretch>
            <a:fillRect/>
          </a:stretch>
        </p:blipFill>
        <p:spPr bwMode="auto">
          <a:xfrm>
            <a:off x="295106" y="230728"/>
            <a:ext cx="3306871" cy="136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03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E4E5F-5FA3-B178-2321-EDFADC07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9D43FA-6B79-DAE9-4348-070491FF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7DA57-4E6A-3243-9AA3-E5F01762C173}"/>
              </a:ext>
            </a:extLst>
          </p:cNvPr>
          <p:cNvSpPr txBox="1"/>
          <p:nvPr/>
        </p:nvSpPr>
        <p:spPr>
          <a:xfrm>
            <a:off x="838199" y="2409531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/>
              <a:t>Comment </a:t>
            </a:r>
            <a:r>
              <a:rPr lang="fr-FR" sz="2400" dirty="0">
                <a:solidFill>
                  <a:srgbClr val="0154E3"/>
                </a:solidFill>
              </a:rPr>
              <a:t>prédire</a:t>
            </a:r>
            <a:r>
              <a:rPr lang="fr-FR" sz="2400" dirty="0"/>
              <a:t> les ventes hebdomadaires pour orienter les campagnes </a:t>
            </a:r>
            <a:r>
              <a:rPr lang="fr-FR" sz="2400" dirty="0">
                <a:solidFill>
                  <a:srgbClr val="0154E3"/>
                </a:solidFill>
              </a:rPr>
              <a:t>marketing</a:t>
            </a:r>
            <a:r>
              <a:rPr lang="fr-FR" sz="2400" dirty="0"/>
              <a:t> et le stockage 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0865076-D9D3-6F87-B594-B9B73F4D71A9}"/>
              </a:ext>
            </a:extLst>
          </p:cNvPr>
          <p:cNvSpPr txBox="1"/>
          <p:nvPr/>
        </p:nvSpPr>
        <p:spPr>
          <a:xfrm>
            <a:off x="4310740" y="3959371"/>
            <a:ext cx="35705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 150 lignes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8 colonnes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variable cible : </a:t>
            </a:r>
            <a:r>
              <a:rPr lang="fr-FR" b="0" i="0" dirty="0" err="1">
                <a:solidFill>
                  <a:srgbClr val="F8F8F6"/>
                </a:solidFill>
                <a:effectLst/>
                <a:latin typeface="Anthropic Sans"/>
              </a:rPr>
              <a:t>Weekly_Sales</a:t>
            </a:r>
            <a:r>
              <a:rPr lang="fr-FR" b="0" i="0" dirty="0">
                <a:solidFill>
                  <a:srgbClr val="F8F8F6"/>
                </a:solidFill>
                <a:effectLst/>
                <a:latin typeface="Anthropic Sans"/>
              </a:rPr>
              <a:t> ($)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67FC9C0-449A-B638-83E4-419425EE7893}"/>
              </a:ext>
            </a:extLst>
          </p:cNvPr>
          <p:cNvSpPr txBox="1"/>
          <p:nvPr/>
        </p:nvSpPr>
        <p:spPr>
          <a:xfrm>
            <a:off x="3048000" y="56176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i="0" dirty="0" err="1">
                <a:solidFill>
                  <a:srgbClr val="F8F8F6"/>
                </a:solidFill>
                <a:effectLst/>
                <a:latin typeface="Anthropic Sans"/>
              </a:rPr>
              <a:t>Dataset</a:t>
            </a:r>
            <a:r>
              <a:rPr lang="fr-FR" b="1" i="0" dirty="0">
                <a:solidFill>
                  <a:srgbClr val="F8F8F6"/>
                </a:solidFill>
                <a:effectLst/>
                <a:latin typeface="Anthropic Sans"/>
              </a:rPr>
              <a:t> custom JEDHA, </a:t>
            </a:r>
            <a:r>
              <a:rPr lang="fr-FR" b="1" i="0" dirty="0">
                <a:solidFill>
                  <a:srgbClr val="0154E3"/>
                </a:solidFill>
                <a:effectLst/>
                <a:latin typeface="Anthropic Sans"/>
              </a:rPr>
              <a:t>indicateurs</a:t>
            </a:r>
            <a:r>
              <a:rPr lang="fr-FR" b="1" i="0" dirty="0">
                <a:solidFill>
                  <a:srgbClr val="F8F8F6"/>
                </a:solidFill>
                <a:effectLst/>
                <a:latin typeface="Anthropic Sans"/>
              </a:rPr>
              <a:t> économiques + </a:t>
            </a:r>
            <a:r>
              <a:rPr lang="fr-FR" b="1" i="0" dirty="0">
                <a:solidFill>
                  <a:srgbClr val="FFC220"/>
                </a:solidFill>
                <a:effectLst/>
                <a:latin typeface="Anthropic Sans"/>
              </a:rPr>
              <a:t>calendaires</a:t>
            </a:r>
            <a:endParaRPr lang="fr-FR" b="1" dirty="0">
              <a:solidFill>
                <a:srgbClr val="FFC2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64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80C155-E102-0517-F256-DDD2AB44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DÉMARCHE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F6E5ED-02C0-1B8A-E35A-AFF058C2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CC7B80-BD97-A80C-6738-967D78CBB47C}"/>
              </a:ext>
            </a:extLst>
          </p:cNvPr>
          <p:cNvSpPr txBox="1"/>
          <p:nvPr/>
        </p:nvSpPr>
        <p:spPr>
          <a:xfrm>
            <a:off x="838200" y="2035381"/>
            <a:ext cx="10515600" cy="2787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Nettoyage : </a:t>
            </a:r>
            <a:r>
              <a:rPr lang="fr-FR" dirty="0">
                <a:solidFill>
                  <a:srgbClr val="0154E3"/>
                </a:solidFill>
              </a:rPr>
              <a:t>suppression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 manquante (14 lignes), </a:t>
            </a:r>
            <a:r>
              <a:rPr lang="fr-FR" dirty="0" err="1"/>
              <a:t>feature</a:t>
            </a:r>
            <a:r>
              <a:rPr lang="fr-FR" dirty="0"/>
              <a:t> engineering dates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Year</a:t>
            </a:r>
            <a:r>
              <a:rPr lang="fr-FR" dirty="0"/>
              <a:t>, </a:t>
            </a:r>
            <a:r>
              <a:rPr lang="fr-FR" dirty="0" err="1"/>
              <a:t>Month</a:t>
            </a:r>
            <a:r>
              <a:rPr lang="fr-FR" dirty="0"/>
              <a:t>, Day, </a:t>
            </a:r>
            <a:r>
              <a:rPr lang="fr-FR" dirty="0" err="1"/>
              <a:t>DayOfWeek</a:t>
            </a:r>
            <a:r>
              <a:rPr lang="fr-FR" dirty="0"/>
              <a:t>), </a:t>
            </a:r>
            <a:r>
              <a:rPr lang="fr-FR" dirty="0" err="1">
                <a:solidFill>
                  <a:srgbClr val="FFC220"/>
                </a:solidFill>
              </a:rPr>
              <a:t>outliers</a:t>
            </a:r>
            <a:r>
              <a:rPr lang="fr-FR" dirty="0"/>
              <a:t> 3 sigmas → 131 lignes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Preprocessing</a:t>
            </a:r>
            <a:r>
              <a:rPr lang="fr-FR" dirty="0"/>
              <a:t> : </a:t>
            </a:r>
            <a:r>
              <a:rPr lang="fr-FR" dirty="0" err="1">
                <a:solidFill>
                  <a:srgbClr val="0154E3"/>
                </a:solidFill>
              </a:rPr>
              <a:t>ColumnTransformer</a:t>
            </a:r>
            <a:r>
              <a:rPr lang="fr-FR" dirty="0"/>
              <a:t> (</a:t>
            </a:r>
            <a:r>
              <a:rPr lang="fr-FR" dirty="0" err="1"/>
              <a:t>StandardScaler</a:t>
            </a:r>
            <a:r>
              <a:rPr lang="fr-FR" dirty="0"/>
              <a:t> + </a:t>
            </a:r>
            <a:r>
              <a:rPr lang="fr-FR" dirty="0" err="1"/>
              <a:t>OneHotEncoder</a:t>
            </a:r>
            <a:r>
              <a:rPr lang="fr-FR" dirty="0"/>
              <a:t>), fit sur train </a:t>
            </a:r>
            <a:r>
              <a:rPr lang="fr-FR" dirty="0">
                <a:solidFill>
                  <a:srgbClr val="FFC220"/>
                </a:solidFill>
              </a:rPr>
              <a:t>uniquement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Modélisation : </a:t>
            </a:r>
            <a:r>
              <a:rPr lang="fr-FR" dirty="0">
                <a:solidFill>
                  <a:srgbClr val="0154E3"/>
                </a:solidFill>
              </a:rPr>
              <a:t>Régression</a:t>
            </a:r>
            <a:r>
              <a:rPr lang="fr-FR" dirty="0"/>
              <a:t> Linéaire (</a:t>
            </a:r>
            <a:r>
              <a:rPr lang="fr-FR" dirty="0" err="1"/>
              <a:t>baseline</a:t>
            </a:r>
            <a:r>
              <a:rPr lang="fr-FR" dirty="0"/>
              <a:t>) → Ridge → </a:t>
            </a:r>
            <a:r>
              <a:rPr lang="fr-FR" dirty="0">
                <a:solidFill>
                  <a:srgbClr val="FFC220"/>
                </a:solidFill>
              </a:rPr>
              <a:t>Lasso</a:t>
            </a:r>
            <a:r>
              <a:rPr lang="fr-FR" dirty="0"/>
              <a:t> + </a:t>
            </a:r>
            <a:r>
              <a:rPr lang="fr-FR" dirty="0" err="1"/>
              <a:t>GridSearchCV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007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F7C9B-1664-77D3-781B-E6DB64C5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AEAC69-803F-5EF5-EDEC-0C2D297E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8E308C1-B906-DFFA-7540-66737379E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45736"/>
              </p:ext>
            </p:extLst>
          </p:nvPr>
        </p:nvGraphicFramePr>
        <p:xfrm>
          <a:off x="1761672" y="2224473"/>
          <a:ext cx="8668656" cy="2195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52">
                  <a:extLst>
                    <a:ext uri="{9D8B030D-6E8A-4147-A177-3AD203B41FA5}">
                      <a16:colId xmlns:a16="http://schemas.microsoft.com/office/drawing/2014/main" val="743381934"/>
                    </a:ext>
                  </a:extLst>
                </a:gridCol>
                <a:gridCol w="2889552">
                  <a:extLst>
                    <a:ext uri="{9D8B030D-6E8A-4147-A177-3AD203B41FA5}">
                      <a16:colId xmlns:a16="http://schemas.microsoft.com/office/drawing/2014/main" val="139688033"/>
                    </a:ext>
                  </a:extLst>
                </a:gridCol>
                <a:gridCol w="2889552">
                  <a:extLst>
                    <a:ext uri="{9D8B030D-6E8A-4147-A177-3AD203B41FA5}">
                      <a16:colId xmlns:a16="http://schemas.microsoft.com/office/drawing/2014/main" val="594390394"/>
                    </a:ext>
                  </a:extLst>
                </a:gridCol>
              </a:tblGrid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  <a:effectLst/>
                        </a:rPr>
                        <a:t>MODÈLE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chemeClr val="tx1"/>
                          </a:solidFill>
                          <a:effectLst/>
                        </a:rPr>
                        <a:t>R2 </a:t>
                      </a:r>
                      <a:r>
                        <a:rPr lang="fr-FR" b="1" dirty="0">
                          <a:solidFill>
                            <a:srgbClr val="0154E3"/>
                          </a:solidFill>
                          <a:effectLst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rgbClr val="FFC220"/>
                          </a:solidFill>
                          <a:effectLst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265012"/>
                  </a:ext>
                </a:extLst>
              </a:tr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rgbClr val="0154E3"/>
                          </a:solidFill>
                          <a:effectLst/>
                        </a:rPr>
                        <a:t>Régression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  <a:effectLst/>
                        </a:rPr>
                        <a:t> Linéaire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0.891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effectLst/>
                        </a:rPr>
                        <a:t>153 208 $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5421"/>
                  </a:ext>
                </a:extLst>
              </a:tr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>
                          <a:solidFill>
                            <a:schemeClr val="tx1"/>
                          </a:solidFill>
                          <a:effectLst/>
                        </a:rPr>
                        <a:t>Ridge (alpha=0.01)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>
                          <a:solidFill>
                            <a:srgbClr val="FFC220"/>
                          </a:solidFill>
                          <a:effectLst/>
                        </a:rPr>
                        <a:t>0.892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151 995 $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75979"/>
                  </a:ext>
                </a:extLst>
              </a:tr>
              <a:tr h="5487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>
                          <a:solidFill>
                            <a:srgbClr val="FFC220"/>
                          </a:solidFill>
                          <a:effectLst/>
                        </a:rPr>
                        <a:t>Lasso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  <a:effectLst/>
                        </a:rPr>
                        <a:t> (alpha=500)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>
                          <a:solidFill>
                            <a:schemeClr val="tx1"/>
                          </a:solidFill>
                          <a:effectLst/>
                        </a:rPr>
                        <a:t>0.897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>
                          <a:solidFill>
                            <a:srgbClr val="0154E3"/>
                          </a:solidFill>
                          <a:effectLst/>
                        </a:rPr>
                        <a:t>151 358 $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34982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6FA383DB-F205-AAE6-80CB-8AA8F32274AE}"/>
              </a:ext>
            </a:extLst>
          </p:cNvPr>
          <p:cNvSpPr txBox="1"/>
          <p:nvPr/>
        </p:nvSpPr>
        <p:spPr>
          <a:xfrm>
            <a:off x="838200" y="5064810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0" i="0" dirty="0">
                <a:solidFill>
                  <a:srgbClr val="F8F8F6"/>
                </a:solidFill>
                <a:effectLst/>
                <a:latin typeface="Anthropic Sans"/>
              </a:rPr>
              <a:t>Store &gt;&gt; </a:t>
            </a:r>
            <a:r>
              <a:rPr lang="fr-FR" sz="2400" b="0" i="0" dirty="0" err="1">
                <a:solidFill>
                  <a:srgbClr val="F8F8F6"/>
                </a:solidFill>
                <a:effectLst/>
                <a:latin typeface="Anthropic Sans"/>
              </a:rPr>
              <a:t>Month</a:t>
            </a:r>
            <a:r>
              <a:rPr lang="fr-FR" sz="2400" b="0" i="0" dirty="0">
                <a:solidFill>
                  <a:srgbClr val="F8F8F6"/>
                </a:solidFill>
                <a:effectLst/>
                <a:latin typeface="Anthropic Sans"/>
              </a:rPr>
              <a:t>/</a:t>
            </a:r>
            <a:r>
              <a:rPr lang="fr-FR" sz="2400" b="0" i="0" dirty="0" err="1">
                <a:solidFill>
                  <a:srgbClr val="F8F8F6"/>
                </a:solidFill>
                <a:effectLst/>
                <a:latin typeface="Anthropic Sans"/>
              </a:rPr>
              <a:t>DayOfWeek</a:t>
            </a:r>
            <a:r>
              <a:rPr lang="fr-FR" sz="2400" b="0" i="0" dirty="0">
                <a:solidFill>
                  <a:srgbClr val="F8F8F6"/>
                </a:solidFill>
                <a:effectLst/>
                <a:latin typeface="Anthropic Sans"/>
              </a:rPr>
              <a:t> &gt;&gt; </a:t>
            </a:r>
            <a:r>
              <a:rPr lang="fr-FR" sz="2400" b="0" i="0" dirty="0" err="1">
                <a:solidFill>
                  <a:srgbClr val="F8F8F6"/>
                </a:solidFill>
                <a:effectLst/>
                <a:latin typeface="Anthropic Sans"/>
              </a:rPr>
              <a:t>Holiday_Flag</a:t>
            </a:r>
            <a:r>
              <a:rPr lang="fr-FR" sz="2400" b="0" i="0" dirty="0">
                <a:solidFill>
                  <a:srgbClr val="F8F8F6"/>
                </a:solidFill>
                <a:effectLst/>
                <a:latin typeface="Anthropic Sans"/>
              </a:rPr>
              <a:t> &gt;&gt; indicateurs économiques (faibles)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42263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CA014-02BF-6533-0127-5C57C4AD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RECOMMANDATIONS &amp; LIMITES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6BCB4A-9B68-E858-178F-EA9DA668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Athanor SAVOUILLAN_Jedha - BLOC 3 - WALMART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862662-3E44-F9A7-98F2-43F2AE17D9DA}"/>
              </a:ext>
            </a:extLst>
          </p:cNvPr>
          <p:cNvSpPr txBox="1"/>
          <p:nvPr/>
        </p:nvSpPr>
        <p:spPr>
          <a:xfrm>
            <a:off x="3271157" y="1690688"/>
            <a:ext cx="5649685" cy="417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C220"/>
                </a:solidFill>
              </a:rPr>
              <a:t>Recommandations</a:t>
            </a:r>
            <a:r>
              <a:rPr lang="fr-FR" dirty="0"/>
              <a:t> 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budgets par magasin (Store = facteur n°1),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investir novembre-décembre (saisonnalité),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exploiter les semaines fériées</a:t>
            </a:r>
          </a:p>
          <a:p>
            <a:endParaRPr lang="fr-FR" dirty="0"/>
          </a:p>
          <a:p>
            <a:r>
              <a:rPr lang="fr-FR" dirty="0">
                <a:solidFill>
                  <a:srgbClr val="0154E3"/>
                </a:solidFill>
              </a:rPr>
              <a:t>Limites</a:t>
            </a:r>
            <a:r>
              <a:rPr lang="fr-FR" dirty="0"/>
              <a:t> :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dataset</a:t>
            </a:r>
            <a:r>
              <a:rPr lang="fr-FR" dirty="0"/>
              <a:t> très petit (131 lignes),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OneHotEncoding</a:t>
            </a:r>
            <a:r>
              <a:rPr lang="fr-FR" dirty="0"/>
              <a:t> crée trop de colonnes,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dirty="0"/>
              <a:t>indicateurs macro peu prédictifs</a:t>
            </a:r>
          </a:p>
        </p:txBody>
      </p:sp>
    </p:spTree>
    <p:extLst>
      <p:ext uri="{BB962C8B-B14F-4D97-AF65-F5344CB8AC3E}">
        <p14:creationId xmlns:p14="http://schemas.microsoft.com/office/powerpoint/2010/main" val="346389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Personnalisé 1">
      <a:majorFont>
        <a:latin typeface="Space Grotesk SemiBold"/>
        <a:ea typeface=""/>
        <a:cs typeface=""/>
      </a:majorFont>
      <a:minorFont>
        <a:latin typeface="Space Grotesk 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1244</TotalTime>
  <Words>229</Words>
  <Application>Microsoft Office PowerPoint</Application>
  <PresentationFormat>Grand écran</PresentationFormat>
  <Paragraphs>41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Anthropic Sans</vt:lpstr>
      <vt:lpstr>Aptos</vt:lpstr>
      <vt:lpstr>Arial</vt:lpstr>
      <vt:lpstr>Space Grotesk Light</vt:lpstr>
      <vt:lpstr>Space Grotesk SemiBold</vt:lpstr>
      <vt:lpstr>Office Theme</vt:lpstr>
      <vt:lpstr>Prédiction des ventes hebdomadaires</vt:lpstr>
      <vt:lpstr>PROBLÉMATIQUE</vt:lpstr>
      <vt:lpstr>DÉMARCHE</vt:lpstr>
      <vt:lpstr>RÉSULTATS</vt:lpstr>
      <vt:lpstr>RECOMMANDATIONS &amp; LIMITES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Athanor Savouillan</dc:creator>
  <cp:lastModifiedBy>Athanor SAVOUILLAN</cp:lastModifiedBy>
  <cp:revision>39</cp:revision>
  <dcterms:created xsi:type="dcterms:W3CDTF">2026-03-05T10:10:09Z</dcterms:created>
  <dcterms:modified xsi:type="dcterms:W3CDTF">2026-04-13T22:25:22Z</dcterms:modified>
</cp:coreProperties>
</file>